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PT Sans Narrow"/>
      <p:regular r:id="rId17"/>
      <p:bold r:id="rId18"/>
    </p:embeddedFont>
    <p:embeddedFont>
      <p:font typeface="Open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6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5.xml"/><Relationship Id="rId21" Type="http://schemas.openxmlformats.org/officeDocument/2006/relationships/font" Target="fonts/Open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TSansNarrow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regular.fntdata"/><Relationship Id="rId6" Type="http://schemas.openxmlformats.org/officeDocument/2006/relationships/slide" Target="slides/slide1.xml"/><Relationship Id="rId18" Type="http://schemas.openxmlformats.org/officeDocument/2006/relationships/font" Target="fonts/PTSansNarrow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d83a95de0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d83a95de0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d83a95de0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d83a95de0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d83a95de0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d83a95de0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d83a95de0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d83a95de0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d83a95de0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d83a95de0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d83a95de0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d83a95de0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d83a95de0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d83a95de0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d83a95de0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dd83a95de0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d83a95de0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d83a95de0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d83a95de0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d83a95de0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Метрики Бизнеса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Маленькая местная пицца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ru" sz="2300"/>
              <a:t>Conversion Rate (CR) — конверсия в заказ</a:t>
            </a:r>
            <a:br>
              <a:rPr lang="ru" sz="2300"/>
            </a:br>
            <a:endParaRPr sz="2300"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1278075"/>
            <a:ext cx="4542900" cy="31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49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Формула:</a:t>
            </a:r>
            <a:endParaRPr b="1" sz="490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49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 = Количество оплаченных заказов / Количество сформированных корзин </a:t>
            </a:r>
            <a:endParaRPr sz="490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49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Пример:</a:t>
            </a:r>
            <a:endParaRPr b="1" sz="490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651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ru" sz="49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1000 пользователей создали корзину </a:t>
            </a:r>
            <a:endParaRPr sz="490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651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ru" sz="49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900 сделали заказ - CR - 90%</a:t>
            </a:r>
            <a:endParaRPr sz="490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90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49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Зачем:</a:t>
            </a:r>
            <a:br>
              <a:rPr b="1" lang="ru" sz="49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 sz="49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Показывает:</a:t>
            </a:r>
            <a:endParaRPr sz="490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651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ru" sz="49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удобно ли пользоваться корзиной, хорошо ли работает оплата</a:t>
            </a:r>
            <a:endParaRPr sz="490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651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ru" sz="49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Хорошо ли создан дизайн</a:t>
            </a:r>
            <a:endParaRPr sz="490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0625" y="1891571"/>
            <a:ext cx="2945050" cy="193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ru" sz="2400"/>
              <a:t>AOPR — средний чек(Например за квартал)</a:t>
            </a:r>
            <a:endParaRPr sz="4300"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311700" y="1266325"/>
            <a:ext cx="4386000" cy="30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b="1" lang="ru" sz="11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Формула:</a:t>
            </a:r>
            <a:endParaRPr b="1" sz="115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ru" sz="11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AOV = Общая выручка / Количество заказов</a:t>
            </a:r>
            <a:endParaRPr sz="115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b="1" lang="ru" sz="11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Как считать:</a:t>
            </a:r>
            <a:endParaRPr b="1" sz="115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1784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53"/>
              <a:buFont typeface="Arial"/>
              <a:buChar char="●"/>
            </a:pPr>
            <a:r>
              <a:rPr lang="ru" sz="11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берем поле total_price за все заказы по периуд </a:t>
            </a:r>
            <a:endParaRPr sz="115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1784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3"/>
              <a:buFont typeface="Times New Roman"/>
              <a:buChar char="●"/>
            </a:pPr>
            <a:r>
              <a:rPr lang="ru" sz="11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считаем среднее </a:t>
            </a:r>
            <a:endParaRPr sz="115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b="1" lang="ru" sz="11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Пример:</a:t>
            </a:r>
            <a:endParaRPr b="1" sz="115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1784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53"/>
              <a:buFont typeface="Times New Roman"/>
              <a:buChar char="●"/>
            </a:pPr>
            <a:r>
              <a:rPr lang="ru" sz="11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500 заказов на 250 000 ₽ → AOPR= 500 ₽</a:t>
            </a:r>
            <a:endParaRPr sz="115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b="1" lang="ru" sz="11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Зачем:</a:t>
            </a:r>
            <a:endParaRPr b="1" sz="115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1784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53"/>
              <a:buFont typeface="Times New Roman"/>
              <a:buChar char="●"/>
            </a:pPr>
            <a:r>
              <a:rPr lang="ru" sz="11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Крайне важная метрика - помогает в планировании</a:t>
            </a:r>
            <a:endParaRPr sz="115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1784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3"/>
              <a:buFont typeface="Times New Roman"/>
              <a:buChar char="●"/>
            </a:pPr>
            <a:r>
              <a:rPr lang="ru" sz="11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 ее помощью можно найти точки роста</a:t>
            </a:r>
            <a:endParaRPr sz="115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1784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3"/>
              <a:buFont typeface="Times New Roman"/>
              <a:buChar char="●"/>
            </a:pPr>
            <a:r>
              <a:rPr lang="ru" sz="11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Анализ покупательской способность</a:t>
            </a:r>
            <a:endParaRPr sz="115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3"/>
              <a:buNone/>
            </a:pPr>
            <a:r>
              <a:t/>
            </a:r>
            <a:endParaRPr sz="1395"/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5425" y="1947163"/>
            <a:ext cx="3594200" cy="169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ru" sz="2400">
                <a:latin typeface="Times New Roman"/>
                <a:ea typeface="Times New Roman"/>
                <a:cs typeface="Times New Roman"/>
                <a:sym typeface="Times New Roman"/>
              </a:rPr>
              <a:t> Daily Active Users (DAU)</a:t>
            </a:r>
            <a:endParaRPr sz="4300"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279425"/>
            <a:ext cx="40197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Как считать: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ru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отправляем событие app_open и считает сколько из них с уникальным uid юзера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Пример: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3200 пользователей за день → DAU = 3200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Зачем: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показывает реальное использование продукта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помогает отслеживать рост</a:t>
            </a:r>
            <a:endParaRPr/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6875" y="1756125"/>
            <a:ext cx="4507800" cy="2220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ru" sz="2500"/>
              <a:t>Retention Rate</a:t>
            </a:r>
            <a:endParaRPr sz="2500"/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225750"/>
            <a:ext cx="3993300" cy="33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Формула: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Retention D7 = пользователи, вернувшиеся на 1-7 день / пользователи, пришедшие в день 0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Как считать: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фиксируем дату первого визита (first_seen)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проверяем, был ли пользователь активен в 1 из 7 последующих дней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Зачем: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ключевой показатель "липкости"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особенно важен для доставки еды (регулярность заказов)</a:t>
            </a:r>
            <a:endParaRPr/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2675" y="67375"/>
            <a:ext cx="1352550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3550" y="1225750"/>
            <a:ext cx="3909576" cy="347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ru" sz="2400"/>
              <a:t>Order Delivery Time — среднее время доставки</a:t>
            </a:r>
            <a:endParaRPr sz="4300"/>
          </a:p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311700" y="1266325"/>
            <a:ext cx="44055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Формула: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Delivery Time = delivered_at - order_created_at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Как считать: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Время оформления заказа и время закрытия заказа храним в БД. Из бд извлекаем эти данным и считаем метрику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Пример: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заказ оформлен в 18:00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доставлен в 18:40 → 40 минут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Агрегируем каждую доставку за период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Зачем: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главный фактор удовлетворенности клиента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напрямую влияет на повторные заказы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0375" y="1778962"/>
            <a:ext cx="2408750" cy="158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ru" sz="2400">
                <a:latin typeface="Times New Roman"/>
                <a:ea typeface="Times New Roman"/>
                <a:cs typeface="Times New Roman"/>
                <a:sym typeface="Times New Roman"/>
              </a:rPr>
              <a:t>On-time Delivery Rate </a:t>
            </a:r>
            <a:endParaRPr sz="4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311700" y="1266325"/>
            <a:ext cx="42603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Формула: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Delivery Rate= Заказы вовремя / Все заказы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Как считать: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 текущий момент фиксируем максимальное время доставки.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Сравниваем зафиксированное время с фактическим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Пример: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900 заказов из 1000 вовремя → Delivery Rate= 90%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Зачем: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главный показатель качества логистики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влияет на жалобы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4200" y="2007887"/>
            <a:ext cx="2408750" cy="158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40400" y="296300"/>
            <a:ext cx="1352550" cy="111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ru" sz="2400"/>
              <a:t>Complaint Rate — доля жалоб</a:t>
            </a:r>
            <a:endParaRPr sz="4300"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311700" y="1266325"/>
            <a:ext cx="40590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Формула: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Complaint Rate = Количество жалоб / Количество заказов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Как считать: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бд храним записи о жалобах(с привязкой к заказу) и записи заказа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Пример: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 жалоб на 1000 заказов → 5%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Зачем: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показывает реальные проблемы (еда, доставка, сервис)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4675" y="1152425"/>
            <a:ext cx="4468501" cy="334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ru" sz="2400"/>
              <a:t>Compensation Rate — доля компенсаций</a:t>
            </a:r>
            <a:endParaRPr sz="5000"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311700" y="1266325"/>
            <a:ext cx="40590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Формула: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Compensation Rate = Компенсированные заказы / Количество жалоб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Как считать: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ru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фиксируем жалобу в БД с меткой компенсации и оценкой пользователя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Зачем: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ru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показывает финансовые потери из-за проблем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ru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сигнализирует о системных ошибках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350" y="1778974"/>
            <a:ext cx="2408750" cy="158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2400"/>
              <a:t>App Load Time</a:t>
            </a:r>
            <a:endParaRPr sz="5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2"/>
          <p:cNvSpPr txBox="1"/>
          <p:nvPr>
            <p:ph idx="1" type="body"/>
          </p:nvPr>
        </p:nvSpPr>
        <p:spPr>
          <a:xfrm>
            <a:off x="311700" y="1266325"/>
            <a:ext cx="42603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Как считать: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считается на стороне мобильного приложения - внутри есть возможность посчитать время от запуска приложения, до перехода н основной экран. Отправляем событие с этими данными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Зачем: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если приложение тормозит → пользователь не возвращается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особенно критично для доставки (быстрый сценарий: “заказал и вышел”,  быстрая проверка статуса заказа)</a:t>
            </a:r>
            <a:endParaRPr/>
          </a:p>
        </p:txBody>
      </p:sp>
      <p:pic>
        <p:nvPicPr>
          <p:cNvPr id="132" name="Google Shape;13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0250" y="1896750"/>
            <a:ext cx="2721650" cy="13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440"/>
              <a:t>LTV</a:t>
            </a:r>
            <a:endParaRPr sz="1940"/>
          </a:p>
        </p:txBody>
      </p:sp>
      <p:sp>
        <p:nvSpPr>
          <p:cNvPr id="138" name="Google Shape;138;p23"/>
          <p:cNvSpPr txBox="1"/>
          <p:nvPr>
            <p:ph idx="1" type="body"/>
          </p:nvPr>
        </p:nvSpPr>
        <p:spPr>
          <a:xfrm>
            <a:off x="311700" y="1266325"/>
            <a:ext cx="4176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Как считать:</a:t>
            </a:r>
            <a:br>
              <a:rPr b="1"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Есть несколько уровней точности: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Простая формула: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LTV = Средний чек × Кол-во заказов на пользователя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Более точная: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LTV = ARPU × Средний срок жизни пользователя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ARPU — средний доход с пользователя за период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срок жизни — сколько пользователь остаётся активным</a:t>
            </a:r>
            <a:endParaRPr/>
          </a:p>
        </p:txBody>
      </p:sp>
      <p:pic>
        <p:nvPicPr>
          <p:cNvPr id="139" name="Google Shape;13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3100" y="1743814"/>
            <a:ext cx="3391401" cy="1655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